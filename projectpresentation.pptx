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44"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mahajanmugdha2005-mnm/smart-study-generator-agent.gi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1653940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Mugdha Mahajan</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mahajanmugdha2005@gmail.com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9137804689</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Smart Study Generator Agent</a:t>
            </a:r>
            <a:endParaRPr lang="en-IN" sz="2400" b="1" dirty="0">
              <a:highlight>
                <a:srgbClr val="FFFF00"/>
              </a:highlight>
            </a:endParaRPr>
          </a:p>
        </p:txBody>
      </p:sp>
      <p:pic>
        <p:nvPicPr>
          <p:cNvPr id="5" name="Picture 4">
            <a:extLst>
              <a:ext uri="{FF2B5EF4-FFF2-40B4-BE49-F238E27FC236}">
                <a16:creationId xmlns:a16="http://schemas.microsoft.com/office/drawing/2014/main" id="{0ECA50E0-2D23-7E3C-E495-EC2837435FF8}"/>
              </a:ext>
            </a:extLst>
          </p:cNvPr>
          <p:cNvPicPr>
            <a:picLocks noChangeAspect="1"/>
          </p:cNvPicPr>
          <p:nvPr/>
        </p:nvPicPr>
        <p:blipFill>
          <a:blip r:embed="rId3"/>
          <a:stretch>
            <a:fillRect/>
          </a:stretch>
        </p:blipFill>
        <p:spPr>
          <a:xfrm>
            <a:off x="4144801" y="3695138"/>
            <a:ext cx="710663" cy="9470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616648"/>
          </a:xfrm>
          <a:prstGeom prst="rect">
            <a:avLst/>
          </a:prstGeom>
          <a:noFill/>
        </p:spPr>
        <p:txBody>
          <a:bodyPr wrap="square" rtlCol="0">
            <a:spAutoFit/>
          </a:bodyPr>
          <a:lstStyle/>
          <a:p>
            <a:pPr fontAlgn="base"/>
            <a:r>
              <a:rPr lang="en-US" b="1" dirty="0"/>
              <a:t>Problem Statement : Smart Study Generator Agent</a:t>
            </a:r>
            <a:endParaRPr lang="en-US" dirty="0"/>
          </a:p>
          <a:p>
            <a:pPr fontAlgn="base"/>
            <a:endParaRPr lang="en-US" b="1" dirty="0"/>
          </a:p>
          <a:p>
            <a:pPr fontAlgn="base"/>
            <a:r>
              <a:rPr lang="en-US" b="1" dirty="0"/>
              <a:t>The Challenge</a:t>
            </a:r>
            <a:r>
              <a:rPr lang="en-US" dirty="0"/>
              <a:t> </a:t>
            </a:r>
          </a:p>
          <a:p>
            <a:r>
              <a:rPr lang="en-IN"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pPr fontAlgn="base"/>
            <a:endParaRPr lang="en-US" dirty="0"/>
          </a:p>
          <a:p>
            <a:pPr fontAlgn="base"/>
            <a:r>
              <a:rPr lang="en-US" b="1" dirty="0"/>
              <a:t>The Objective</a:t>
            </a:r>
            <a:r>
              <a:rPr lang="en-US" dirty="0"/>
              <a:t> </a:t>
            </a:r>
          </a:p>
          <a:p>
            <a:r>
              <a:rPr lang="en-IN" dirty="0"/>
              <a:t>Build an agentic AI-powered Smart Study Generator that personalizes and streamlines learning for students. The solution should:</a:t>
            </a:r>
          </a:p>
          <a:p>
            <a:pPr lvl="0"/>
            <a:r>
              <a:rPr lang="en-IN" b="1" dirty="0"/>
              <a:t>Fuse Learning Resources: </a:t>
            </a:r>
            <a:r>
              <a:rPr lang="en-IN" dirty="0"/>
              <a:t>Aggregate content from class notes, textbooks, research articles, and online tutorials into structured, easy-to-digest study material.</a:t>
            </a:r>
          </a:p>
          <a:p>
            <a:pPr lvl="0"/>
            <a:r>
              <a:rPr lang="en-IN" b="1" dirty="0"/>
              <a:t>Enable Multimodal Input:</a:t>
            </a:r>
            <a:r>
              <a:rPr lang="en-IN" dirty="0"/>
              <a:t> Allow students to upload notes, voice queries, or images (e.g., textbook pages), and generate concise summaries, flashcards, or concept maps.</a:t>
            </a:r>
          </a:p>
          <a:p>
            <a:pPr lvl="0"/>
            <a:r>
              <a:rPr lang="en-IN" b="1" dirty="0"/>
              <a:t>Create a Predictive &amp; Agentic Layer:</a:t>
            </a:r>
            <a:r>
              <a:rPr lang="en-IN" dirty="0"/>
              <a:t> Recommend personalized study plans, highlight important topics based on syllabus or past exams, and provide predictive alerts (e.g., “Focus on Topic X—frequently asked in exams”).</a:t>
            </a:r>
          </a:p>
          <a:p>
            <a:pPr lvl="0"/>
            <a:r>
              <a:rPr lang="en-IN" b="1" dirty="0"/>
              <a:t>Visualize Study Progress:</a:t>
            </a:r>
            <a:r>
              <a:rPr lang="en-IN" dirty="0"/>
              <a:t> Offer a real-time dashboard showing learning milestones, weak areas, practice quizzes, and performance forecasts.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616648"/>
          </a:xfrm>
          <a:prstGeom prst="rect">
            <a:avLst/>
          </a:prstGeom>
          <a:noFill/>
        </p:spPr>
        <p:txBody>
          <a:bodyPr wrap="square" rtlCol="0">
            <a:spAutoFit/>
          </a:bodyPr>
          <a:lstStyle/>
          <a:p>
            <a:r>
              <a:rPr lang="en-IN" dirty="0"/>
              <a:t>The proposed solution is a </a:t>
            </a:r>
            <a:r>
              <a:rPr lang="en-IN" b="1" dirty="0"/>
              <a:t>multi-agent AI-powered Smart Study Generator Agent</a:t>
            </a:r>
            <a:r>
              <a:rPr lang="en-IN" dirty="0"/>
              <a:t> built using </a:t>
            </a:r>
            <a:r>
              <a:rPr lang="en-IN" b="1" dirty="0" err="1"/>
              <a:t>LangFlow</a:t>
            </a:r>
            <a:r>
              <a:rPr lang="en-IN" b="1" dirty="0"/>
              <a:t>, Google AI Studio, and Google Gemini 3.5 Flash</a:t>
            </a:r>
            <a:r>
              <a:rPr lang="en-IN" dirty="0"/>
              <a:t> to provide personalized and adaptive learning support. The system addresses challenges such as scattered study materials, inefficient revision, and lack of personalized guidance through an intelligent, modular architecture.</a:t>
            </a:r>
          </a:p>
          <a:p>
            <a:r>
              <a:rPr lang="en-IN" dirty="0"/>
              <a:t>At its core, the solution uses a </a:t>
            </a:r>
            <a:r>
              <a:rPr lang="en-IN" b="1" dirty="0"/>
              <a:t>Retrieval-Augmented Generation (RAG)</a:t>
            </a:r>
            <a:r>
              <a:rPr lang="en-IN" dirty="0"/>
              <a:t> pipeline to retrieve relevant information from uploaded study materials such as lecture notes, textbooks, PDFs, and research papers. These documents are converted into embeddings and stored in a vector database, enabling accurate retrieval, summarization, and question answering.</a:t>
            </a:r>
          </a:p>
          <a:p>
            <a:endParaRPr lang="en-IN" dirty="0"/>
          </a:p>
          <a:p>
            <a:r>
              <a:rPr lang="en-IN" dirty="0"/>
              <a:t>The system consists of four key agents:</a:t>
            </a:r>
          </a:p>
          <a:p>
            <a:r>
              <a:rPr lang="en-IN" b="1" dirty="0"/>
              <a:t>Knowledge Processing Agent</a:t>
            </a:r>
            <a:r>
              <a:rPr lang="en-IN" dirty="0"/>
              <a:t> retrieves, organizes, and summarizes study materials using the RAG pipeline.</a:t>
            </a:r>
          </a:p>
          <a:p>
            <a:r>
              <a:rPr lang="en-IN" b="1" dirty="0"/>
              <a:t>Learning Assistant Agent</a:t>
            </a:r>
            <a:r>
              <a:rPr lang="en-IN" dirty="0"/>
              <a:t> explains concepts, answers academic questions, and personalizes learning based on the student's goals and learning style.</a:t>
            </a:r>
          </a:p>
          <a:p>
            <a:r>
              <a:rPr lang="en-IN" b="1" dirty="0"/>
              <a:t>Study Planner Agent</a:t>
            </a:r>
            <a:r>
              <a:rPr lang="en-IN" dirty="0"/>
              <a:t> creates personalized study schedules based on exam dates, available study time, and weak topics.</a:t>
            </a:r>
          </a:p>
          <a:p>
            <a:r>
              <a:rPr lang="en-IN" b="1" dirty="0"/>
              <a:t>Assessment &amp; Feedback Agent</a:t>
            </a:r>
            <a:r>
              <a:rPr lang="en-IN" dirty="0"/>
              <a:t> generates quizzes, flashcards, revision notes, and provides performance analysis with improvement suggestions.</a:t>
            </a:r>
          </a:p>
          <a:p>
            <a:r>
              <a:rPr lang="en-IN" dirty="0"/>
              <a:t>The solution includes a </a:t>
            </a:r>
            <a:r>
              <a:rPr lang="en-IN" b="1" dirty="0"/>
              <a:t>user-friendly dashboard (</a:t>
            </a:r>
            <a:r>
              <a:rPr lang="en-IN" b="1" dirty="0" err="1"/>
              <a:t>Streamlit</a:t>
            </a:r>
            <a:r>
              <a:rPr lang="en-IN" b="1" dirty="0"/>
              <a:t> or React)</a:t>
            </a:r>
            <a:r>
              <a:rPr lang="en-IN" dirty="0"/>
              <a:t> where students can upload study materials, view summaries, track learning progress, and access personalized study plans and assessments.</a:t>
            </a:r>
          </a:p>
          <a:p>
            <a:r>
              <a:rPr lang="en-IN" b="1" dirty="0" err="1"/>
              <a:t>LangFlow</a:t>
            </a:r>
            <a:r>
              <a:rPr lang="en-IN" dirty="0"/>
              <a:t> orchestrates the multi-agent workflow, while </a:t>
            </a:r>
            <a:r>
              <a:rPr lang="en-IN" b="1" dirty="0"/>
              <a:t>Google AI Studio</a:t>
            </a:r>
            <a:r>
              <a:rPr lang="en-IN" dirty="0"/>
              <a:t> provides access to </a:t>
            </a:r>
            <a:r>
              <a:rPr lang="en-IN" b="1" dirty="0"/>
              <a:t>Google Gemini 3.5 Flash</a:t>
            </a:r>
            <a:r>
              <a:rPr lang="en-IN" dirty="0"/>
              <a:t>, which powers reasoning, summarization, question answering, and personalized study recommendations.</a:t>
            </a:r>
          </a:p>
          <a:p>
            <a:r>
              <a:rPr lang="en-IN" dirty="0"/>
              <a:t>Overall, the solution delivers an intelligent study assistant that helps students organize learning resources, improve understanding, and prepare effectively for exams through AI-powered personalized learning.</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29320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b="1" dirty="0" err="1"/>
              <a:t>LangFlow</a:t>
            </a:r>
            <a:r>
              <a:rPr lang="en-IN" sz="1800" b="1" dirty="0"/>
              <a:t> Platform - </a:t>
            </a:r>
            <a:r>
              <a:rPr lang="en-IN" sz="1800" dirty="0"/>
              <a:t>Used to visually design and orchestrate the Smart Study Generator Agent workflow. </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Google AI Studio - </a:t>
            </a:r>
            <a:r>
              <a:rPr lang="en-IN" sz="1800" dirty="0"/>
              <a:t>Provides secure API access to the Google Gemini 3.5 Flash model for AI-powered study assistance.</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Google Gemini 3.5 Flash - </a:t>
            </a:r>
            <a:r>
              <a:rPr lang="en-IN" sz="1800" dirty="0"/>
              <a:t>Used for natural language understanding, reasoning, concept explanation, summarization, quiz generation, flashcard creation, and personalized study planning.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IN" b="1" dirty="0"/>
          </a:p>
          <a:p>
            <a:pPr marL="342900" indent="-342900">
              <a:buFont typeface="+mj-lt"/>
              <a:buAutoNum type="arabicParenR"/>
            </a:pPr>
            <a:r>
              <a:rPr lang="en-IN" b="1" dirty="0"/>
              <a:t>Chat Input</a:t>
            </a:r>
            <a:r>
              <a:rPr lang="en-IN" dirty="0"/>
              <a:t> – Interface where students enter their academic queries, study goals, or upload learning-related prompts for the Smart Study Generator Agent.</a:t>
            </a:r>
          </a:p>
          <a:p>
            <a:pPr marL="342900" indent="-342900">
              <a:buFont typeface="+mj-lt"/>
              <a:buAutoNum type="arabicParenR"/>
            </a:pPr>
            <a:endParaRPr lang="en-IN" dirty="0"/>
          </a:p>
          <a:p>
            <a:pPr marL="342900" indent="-342900">
              <a:buFont typeface="+mj-lt"/>
              <a:buAutoNum type="arabicParenR"/>
            </a:pPr>
            <a:r>
              <a:rPr lang="en-IN" b="1" dirty="0"/>
              <a:t>Agent</a:t>
            </a:r>
            <a:r>
              <a:rPr lang="en-IN" dirty="0"/>
              <a:t> – Processes user queries using the </a:t>
            </a:r>
            <a:r>
              <a:rPr lang="en-IN" b="1" dirty="0"/>
              <a:t>Google Gemini 3.5 Flash</a:t>
            </a:r>
            <a:r>
              <a:rPr lang="en-IN" dirty="0"/>
              <a:t> model and follows the defined system prompt to generate personalized study plans, concept explanations, summaries, flashcards, quizzes, and learning recommendations.</a:t>
            </a:r>
          </a:p>
          <a:p>
            <a:pPr marL="342900" indent="-342900">
              <a:buFont typeface="+mj-lt"/>
              <a:buAutoNum type="arabicParenR"/>
            </a:pPr>
            <a:endParaRPr lang="en-IN" b="1" dirty="0"/>
          </a:p>
          <a:p>
            <a:pPr marL="342900" indent="-342900">
              <a:buFont typeface="+mj-lt"/>
              <a:buAutoNum type="arabicParenR"/>
            </a:pPr>
            <a:r>
              <a:rPr lang="en-IN" b="1" dirty="0"/>
              <a:t>Google Gemini 3.5 Flash</a:t>
            </a:r>
            <a:r>
              <a:rPr lang="en-IN" dirty="0"/>
              <a:t> – A fast and efficient large language model used for natural language understanding, reasoning, summarization, question answering, and personalized study assistance.</a:t>
            </a:r>
          </a:p>
          <a:p>
            <a:pPr marL="342900" indent="-342900">
              <a:buFont typeface="+mj-lt"/>
              <a:buAutoNum type="arabicParenR"/>
            </a:pPr>
            <a:endParaRPr lang="en-IN" b="1" dirty="0"/>
          </a:p>
          <a:p>
            <a:pPr marL="342900" indent="-342900">
              <a:buFont typeface="+mj-lt"/>
              <a:buAutoNum type="arabicParenR"/>
            </a:pPr>
            <a:r>
              <a:rPr lang="en-IN" b="1" dirty="0"/>
              <a:t>Chat Output</a:t>
            </a:r>
            <a:r>
              <a:rPr lang="en-IN" dirty="0"/>
              <a:t> – Displays AI-generated responses such as study summaries, concept explanations, revision notes, flashcards, quizzes, and personalized study plans.</a:t>
            </a:r>
          </a:p>
          <a:p>
            <a:pPr marL="342900" indent="-342900">
              <a:buFont typeface="+mj-lt"/>
              <a:buAutoNum type="arabicParenR"/>
            </a:pPr>
            <a:endParaRPr lang="en-IN" b="1" dirty="0"/>
          </a:p>
          <a:p>
            <a:pPr marL="342900" indent="-342900">
              <a:buFont typeface="+mj-lt"/>
              <a:buAutoNum type="arabicParenR"/>
            </a:pPr>
            <a:r>
              <a:rPr lang="en-IN" b="1" dirty="0"/>
              <a:t>Agent Instructions (System Prompt)</a:t>
            </a:r>
            <a:r>
              <a:rPr lang="en-IN" dirty="0"/>
              <a:t> – Defines the Smart Study Generator Agent's </a:t>
            </a:r>
            <a:r>
              <a:rPr lang="en-IN" dirty="0" err="1"/>
              <a:t>behavior</a:t>
            </a:r>
            <a:r>
              <a:rPr lang="en-IN" dirty="0"/>
              <a:t>, communication style, personalization rules, study material generation, and response format to ensure accurate and consistent academic assistance.</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5" name="Picture 4">
            <a:extLst>
              <a:ext uri="{FF2B5EF4-FFF2-40B4-BE49-F238E27FC236}">
                <a16:creationId xmlns:a16="http://schemas.microsoft.com/office/drawing/2014/main" id="{F5F4DBD7-A127-EBBF-9D21-9A4CD1892D4B}"/>
              </a:ext>
            </a:extLst>
          </p:cNvPr>
          <p:cNvPicPr>
            <a:picLocks noChangeAspect="1"/>
          </p:cNvPicPr>
          <p:nvPr/>
        </p:nvPicPr>
        <p:blipFill>
          <a:blip r:embed="rId3"/>
          <a:stretch>
            <a:fillRect/>
          </a:stretch>
        </p:blipFill>
        <p:spPr>
          <a:xfrm>
            <a:off x="1848612" y="1106941"/>
            <a:ext cx="8494776" cy="501738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a:t>
            </a:r>
            <a:endParaRPr lang="en-US" sz="2400" dirty="0"/>
          </a:p>
        </p:txBody>
      </p:sp>
      <p:sp>
        <p:nvSpPr>
          <p:cNvPr id="10" name="Rectangle 9">
            <a:extLst>
              <a:ext uri="{FF2B5EF4-FFF2-40B4-BE49-F238E27FC236}">
                <a16:creationId xmlns:a16="http://schemas.microsoft.com/office/drawing/2014/main" id="{557E6E09-59F2-6078-99D2-DA21E335937E}"/>
              </a:ext>
            </a:extLst>
          </p:cNvPr>
          <p:cNvSpPr/>
          <p:nvPr/>
        </p:nvSpPr>
        <p:spPr>
          <a:xfrm>
            <a:off x="1591377" y="925752"/>
            <a:ext cx="9009246" cy="5467150"/>
          </a:xfrm>
          <a:prstGeom prst="rect">
            <a:avLst/>
          </a:prstGeom>
          <a:ln w="76200"/>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pic>
        <p:nvPicPr>
          <p:cNvPr id="11" name="Picture 10">
            <a:extLst>
              <a:ext uri="{FF2B5EF4-FFF2-40B4-BE49-F238E27FC236}">
                <a16:creationId xmlns:a16="http://schemas.microsoft.com/office/drawing/2014/main" id="{0A336A41-CA54-2D86-68A0-A0929DC18836}"/>
              </a:ext>
            </a:extLst>
          </p:cNvPr>
          <p:cNvPicPr>
            <a:picLocks noChangeAspect="1"/>
          </p:cNvPicPr>
          <p:nvPr/>
        </p:nvPicPr>
        <p:blipFill>
          <a:blip r:embed="rId3"/>
          <a:stretch>
            <a:fillRect/>
          </a:stretch>
        </p:blipFill>
        <p:spPr>
          <a:xfrm>
            <a:off x="2460783" y="1838230"/>
            <a:ext cx="7270434" cy="36421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754874"/>
          </a:xfrm>
          <a:prstGeom prst="rect">
            <a:avLst/>
          </a:prstGeom>
          <a:noFill/>
        </p:spPr>
        <p:txBody>
          <a:bodyPr wrap="square" rtlCol="0">
            <a:spAutoFit/>
          </a:bodyPr>
          <a:lstStyle/>
          <a:p>
            <a:r>
              <a:rPr lang="en-IN" dirty="0"/>
              <a:t>Agentic AI enables the Smart Study Generator Agent to function as an intelligent, autonomous learning assistant rather than a simple chatbot. Using </a:t>
            </a:r>
            <a:r>
              <a:rPr lang="en-IN" b="1" dirty="0" err="1"/>
              <a:t>LangFlow</a:t>
            </a:r>
            <a:r>
              <a:rPr lang="en-IN" dirty="0"/>
              <a:t> and </a:t>
            </a:r>
            <a:r>
              <a:rPr lang="en-IN" b="1" dirty="0"/>
              <a:t>Google Gemini 3.5 Flash</a:t>
            </a:r>
            <a:r>
              <a:rPr lang="en-IN" dirty="0"/>
              <a:t>, it coordinates multiple specialized agents to deliver personalized learning support.</a:t>
            </a:r>
          </a:p>
          <a:p>
            <a:r>
              <a:rPr lang="en-IN" dirty="0"/>
              <a:t>Each agent performs a specific role—such as organizing study materials, explaining concepts, generating study plans, and creating quizzes and flashcards—while working collaboratively. This multi-agent approach ensures efficient task execution and provides accurate, personalized learning resources.</a:t>
            </a:r>
          </a:p>
          <a:p>
            <a:r>
              <a:rPr lang="en-IN" dirty="0"/>
              <a:t>Agentic AI also provides context awareness by understanding the student's academic level, subject, learning goals, weak areas, and exam timeline to generate tailored study recommendations. It continuously adapts its responses based on user interactions, helping students stay focused and improve their understanding.</a:t>
            </a:r>
          </a:p>
          <a:p>
            <a:r>
              <a:rPr lang="en-IN" dirty="0"/>
              <a:t>Additionally, the agents work together to deliver organized study content, personalized revision strategies, and continuous learning support.</a:t>
            </a:r>
          </a:p>
          <a:p>
            <a:r>
              <a:rPr lang="en-IN" dirty="0"/>
              <a:t>Overall, Agentic AI makes the system intelligent, adaptive, and student-centric, acting as a smart study companion that helps students learn effectively and prepare confidently for exams.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78313"/>
          </a:xfrm>
          <a:prstGeom prst="rect">
            <a:avLst/>
          </a:prstGeom>
          <a:noFill/>
        </p:spPr>
        <p:txBody>
          <a:bodyPr wrap="square" rtlCol="0">
            <a:spAutoFit/>
          </a:bodyPr>
          <a:lstStyle/>
          <a:p>
            <a:r>
              <a:rPr lang="en-IN" sz="1800" dirty="0"/>
              <a:t>The proposed </a:t>
            </a:r>
            <a:r>
              <a:rPr lang="en-IN" sz="1800" b="1" dirty="0"/>
              <a:t>Smart Study Generator Agent</a:t>
            </a:r>
            <a:r>
              <a:rPr lang="en-IN" sz="1800" dirty="0"/>
              <a:t> stands out by combining Agentic AI, Generative AI, and personalized learning into a single intelligent system.</a:t>
            </a:r>
          </a:p>
          <a:p>
            <a:r>
              <a:rPr lang="en-IN" sz="1800" b="1" dirty="0"/>
              <a:t>Multi-Agent Intelligence</a:t>
            </a:r>
            <a:r>
              <a:rPr lang="en-IN" sz="1800" dirty="0"/>
              <a:t> – Multiple specialized agents collaborate to organize study materials, explain concepts, generate study plans, and create quizzes, ensuring efficient and context-aware learning support.</a:t>
            </a:r>
          </a:p>
          <a:p>
            <a:r>
              <a:rPr lang="en-IN" sz="1800" b="1" dirty="0"/>
              <a:t>Personalized Learning</a:t>
            </a:r>
            <a:r>
              <a:rPr lang="en-IN" sz="1800" dirty="0"/>
              <a:t> – Adapts study plans, explanations, and revision strategies based on the student's academic level, learning goals, weak areas, and exam timeline.</a:t>
            </a:r>
          </a:p>
          <a:p>
            <a:r>
              <a:rPr lang="en-IN" sz="1800" b="1" dirty="0"/>
              <a:t>Adaptive Study Planning</a:t>
            </a:r>
            <a:r>
              <a:rPr lang="en-IN" sz="1800" dirty="0"/>
              <a:t> – Generates realistic study schedules by prioritizing important topics and available study time to maximize exam readiness.</a:t>
            </a:r>
          </a:p>
          <a:p>
            <a:r>
              <a:rPr lang="en-IN" sz="1800" b="1" dirty="0"/>
              <a:t>Interactive Learning Support</a:t>
            </a:r>
            <a:r>
              <a:rPr lang="en-IN" sz="1800" dirty="0"/>
              <a:t> – Creates summaries, flashcards, practice quizzes, and concept explanations to improve understanding and retention.</a:t>
            </a:r>
          </a:p>
          <a:p>
            <a:r>
              <a:rPr lang="en-IN" sz="1800" b="1" dirty="0"/>
              <a:t>Multimodal Input</a:t>
            </a:r>
            <a:r>
              <a:rPr lang="en-IN" sz="1800" dirty="0"/>
              <a:t> – Supports text, images, voice queries, and uploaded study materials for a seamless learning experience.</a:t>
            </a:r>
          </a:p>
          <a:p>
            <a:r>
              <a:rPr lang="en-IN" sz="1800" b="1" dirty="0"/>
              <a:t>Context-Aware Responses</a:t>
            </a:r>
            <a:r>
              <a:rPr lang="en-IN" sz="1800" dirty="0"/>
              <a:t> – Understands previous interactions and student preferences to provide relevant and personalized academic assistance.</a:t>
            </a:r>
          </a:p>
          <a:p>
            <a:r>
              <a:rPr lang="en-IN" sz="1800" b="1" dirty="0"/>
              <a:t>Scalable &amp; Efficient</a:t>
            </a:r>
            <a:r>
              <a:rPr lang="en-IN" sz="1800" dirty="0"/>
              <a:t> – Built using </a:t>
            </a:r>
            <a:r>
              <a:rPr lang="en-IN" sz="1800" b="1" dirty="0" err="1"/>
              <a:t>LangFlow</a:t>
            </a:r>
            <a:r>
              <a:rPr lang="en-IN" sz="1800" dirty="0"/>
              <a:t> and </a:t>
            </a:r>
            <a:r>
              <a:rPr lang="en-IN" sz="1800" b="1" dirty="0"/>
              <a:t>Google Gemini 3.5 Flash</a:t>
            </a:r>
            <a:r>
              <a:rPr lang="en-IN" sz="1800" dirty="0"/>
              <a:t> through </a:t>
            </a:r>
            <a:r>
              <a:rPr lang="en-IN" sz="1800" b="1" dirty="0"/>
              <a:t>Google AI Studio</a:t>
            </a:r>
            <a:r>
              <a:rPr lang="en-IN" sz="1800" dirty="0"/>
              <a:t>, enabling fast, accurate, and intelligent study assistance.</a:t>
            </a:r>
          </a:p>
          <a:p>
            <a:r>
              <a:rPr lang="en-IN" sz="1800" dirty="0"/>
              <a:t>This makes the solution a smart, adaptive, and personalized digital study companion rather than just a basic question-answering chatbot.</a:t>
            </a:r>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r>
              <a:rPr lang="en-IN" sz="2400" dirty="0"/>
              <a:t>This project presents an </a:t>
            </a:r>
            <a:r>
              <a:rPr lang="en-IN" sz="2400" b="1" dirty="0"/>
              <a:t>AI-Powered Smart Study Generator Agent</a:t>
            </a:r>
            <a:r>
              <a:rPr lang="en-IN" sz="2400" dirty="0"/>
              <a:t> developed using </a:t>
            </a:r>
            <a:r>
              <a:rPr lang="en-IN" sz="2400" b="1" dirty="0" err="1"/>
              <a:t>LangFlow</a:t>
            </a:r>
            <a:r>
              <a:rPr lang="en-IN" sz="2400" dirty="0"/>
              <a:t> and </a:t>
            </a:r>
            <a:r>
              <a:rPr lang="en-IN" sz="2400" b="1" dirty="0"/>
              <a:t>Google Gemini 3.5 Flash</a:t>
            </a:r>
            <a:r>
              <a:rPr lang="en-IN" sz="2400" dirty="0"/>
              <a:t>, designed to help students generate personalized study plans, concise summaries, flashcards, quizzes, and concept explanations from multiple learning resources. The complete project, including source files and documentation, is available at the following </a:t>
            </a:r>
            <a:r>
              <a:rPr lang="en-IN" sz="2400" dirty="0">
                <a:hlinkClick r:id="rId3"/>
              </a:rPr>
              <a:t>GitHub Repository</a:t>
            </a:r>
            <a:r>
              <a:rPr lang="en-IN" sz="2400" dirty="0"/>
              <a: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Font typeface="+mj-lt"/>
              <a:buAutoNum type="arabicPeriod"/>
            </a:pPr>
            <a:r>
              <a:rPr lang="en-IN" sz="2000" b="1" dirty="0"/>
              <a:t>Advanced Document Understanding with RAG</a:t>
            </a:r>
            <a:r>
              <a:rPr lang="en-IN" sz="2000" dirty="0"/>
              <a:t> –</a:t>
            </a:r>
            <a:br>
              <a:rPr lang="en-IN" sz="2000" dirty="0"/>
            </a:br>
            <a:r>
              <a:rPr lang="en-IN" sz="2000" dirty="0"/>
              <a:t>The system can be enhanced by integrating a Retrieval-Augmented Generation (RAG) pipeline with a vector database. This will enable the agent to retrieve information directly from uploaded textbooks, research papers, lecture notes, and PDFs, providing more accurate, context-aware, and personalized study assistance.</a:t>
            </a:r>
          </a:p>
          <a:p>
            <a:pPr marL="457200" indent="-457200">
              <a:buFont typeface="+mj-lt"/>
              <a:buAutoNum type="arabicPeriod"/>
            </a:pPr>
            <a:endParaRPr lang="en-IN" sz="2000" dirty="0"/>
          </a:p>
          <a:p>
            <a:pPr marL="457200" indent="-457200">
              <a:buFont typeface="+mj-lt"/>
              <a:buAutoNum type="arabicPeriod"/>
            </a:pPr>
            <a:r>
              <a:rPr lang="en-IN" sz="2000" b="1" dirty="0"/>
              <a:t>AI-Powered Voice Assistant &amp; Multilingual Support</a:t>
            </a:r>
            <a:r>
              <a:rPr lang="en-IN" sz="2000" dirty="0"/>
              <a:t> –</a:t>
            </a:r>
            <a:br>
              <a:rPr lang="en-IN" sz="2000" dirty="0"/>
            </a:br>
            <a:r>
              <a:rPr lang="en-IN" sz="2000" dirty="0"/>
              <a:t>The system can be extended with a voice-enabled assistant and multilingual support, allowing students to ask questions and receive explanations in their preferred language. This will improve accessibility and make the Smart Study Generator Agent more inclusive for students from diverse linguistic and educational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62FE22DF-1921-A31C-4FD3-527C6E12012B}"/>
              </a:ext>
            </a:extLst>
          </p:cNvPr>
          <p:cNvPicPr>
            <a:picLocks noChangeAspect="1"/>
          </p:cNvPicPr>
          <p:nvPr/>
        </p:nvPicPr>
        <p:blipFill>
          <a:blip r:embed="rId2"/>
          <a:stretch>
            <a:fillRect/>
          </a:stretch>
        </p:blipFill>
        <p:spPr>
          <a:xfrm>
            <a:off x="2752553" y="844417"/>
            <a:ext cx="6686894" cy="516916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424836A7-F386-19E1-B671-064766A0A7D8}"/>
              </a:ext>
            </a:extLst>
          </p:cNvPr>
          <p:cNvPicPr>
            <a:picLocks noChangeAspect="1"/>
          </p:cNvPicPr>
          <p:nvPr/>
        </p:nvPicPr>
        <p:blipFill>
          <a:blip r:embed="rId2"/>
          <a:stretch>
            <a:fillRect/>
          </a:stretch>
        </p:blipFill>
        <p:spPr>
          <a:xfrm>
            <a:off x="2374006" y="1068439"/>
            <a:ext cx="7443988" cy="486072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1438</Words>
  <Application>Microsoft Office PowerPoint</Application>
  <PresentationFormat>Widescreen</PresentationFormat>
  <Paragraphs>94</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Mugdha Mahajan</cp:lastModifiedBy>
  <cp:revision>15</cp:revision>
  <dcterms:created xsi:type="dcterms:W3CDTF">2025-07-08T05:06:56Z</dcterms:created>
  <dcterms:modified xsi:type="dcterms:W3CDTF">2026-06-23T19:37:59Z</dcterms:modified>
</cp:coreProperties>
</file>